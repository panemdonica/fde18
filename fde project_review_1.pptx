
<file path=[Content_Types].xml><?xml version="1.0" encoding="utf-8"?>
<Types xmlns="http://schemas.openxmlformats.org/package/2006/content-types">
  <Default Extension="jpeg" ContentType="image/jpeg"/>
  <Default Extension="jp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86" r:id="rId2"/>
    <p:sldId id="260" r:id="rId3"/>
    <p:sldId id="278" r:id="rId4"/>
    <p:sldId id="257" r:id="rId5"/>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6286" autoAdjust="0"/>
  </p:normalViewPr>
  <p:slideViewPr>
    <p:cSldViewPr>
      <p:cViewPr>
        <p:scale>
          <a:sx n="117" d="100"/>
          <a:sy n="117" d="100"/>
        </p:scale>
        <p:origin x="2024" y="95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8/14/26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82A2A7-8E58-4AA3-854C-AFDBFBEC253A}" type="slidenum">
              <a:rPr lang="en-US" smtClean="0"/>
              <a:pPr/>
              <a:t>1</a:t>
            </a:fld>
            <a:endParaRPr lang="en-US"/>
          </a:p>
        </p:txBody>
      </p:sp>
    </p:spTree>
    <p:extLst>
      <p:ext uri="{BB962C8B-B14F-4D97-AF65-F5344CB8AC3E}">
        <p14:creationId xmlns:p14="http://schemas.microsoft.com/office/powerpoint/2010/main" val="29846052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kern="1200" dirty="0">
                <a:solidFill>
                  <a:schemeClr val="tx1"/>
                </a:solidFill>
                <a:effectLst/>
                <a:latin typeface="+mn-lt"/>
                <a:ea typeface="+mn-ea"/>
                <a:cs typeface="+mn-cs"/>
              </a:rPr>
              <a:t>GitHub generates large amounts of data through commits, pull requests, issues, releases, and contributors.</a:t>
            </a:r>
          </a:p>
          <a:p>
            <a:r>
              <a:rPr lang="en-US" sz="1200" kern="1200" dirty="0">
                <a:solidFill>
                  <a:schemeClr val="tx1"/>
                </a:solidFill>
                <a:effectLst/>
                <a:latin typeface="+mn-lt"/>
                <a:ea typeface="+mn-ea"/>
                <a:cs typeface="+mn-cs"/>
              </a:rPr>
              <a:t>The main problem is that raw GitHub API data does not directly show how a repository is performing over time. Our project  </a:t>
            </a:r>
            <a:r>
              <a:rPr lang="en-US" sz="1200" kern="1200" dirty="0" err="1">
                <a:solidFill>
                  <a:schemeClr val="tx1"/>
                </a:solidFill>
                <a:effectLst/>
                <a:latin typeface="+mn-lt"/>
                <a:ea typeface="+mn-ea"/>
                <a:cs typeface="+mn-cs"/>
              </a:rPr>
              <a:t>GitPulse</a:t>
            </a:r>
            <a:r>
              <a:rPr lang="en-US" sz="1200" kern="1200" dirty="0">
                <a:solidFill>
                  <a:schemeClr val="tx1"/>
                </a:solidFill>
                <a:effectLst/>
                <a:latin typeface="+mn-lt"/>
                <a:ea typeface="+mn-ea"/>
                <a:cs typeface="+mn-cs"/>
              </a:rPr>
              <a:t> will calculate metrics such as </a:t>
            </a:r>
            <a:r>
              <a:rPr lang="en-US" sz="1200" b="1" kern="1200" dirty="0">
                <a:solidFill>
                  <a:schemeClr val="tx1"/>
                </a:solidFill>
                <a:effectLst/>
                <a:latin typeface="+mn-lt"/>
                <a:ea typeface="+mn-ea"/>
                <a:cs typeface="+mn-cs"/>
              </a:rPr>
              <a:t>commit frequency, contributor activity, PR behavior, issue-resolution time, and repository growth</a:t>
            </a:r>
            <a:r>
              <a:rPr lang="en-US" sz="1200" kern="1200" dirty="0">
                <a:solidFill>
                  <a:schemeClr val="tx1"/>
                </a:solidFill>
                <a:effectLst/>
                <a:latin typeface="+mn-lt"/>
                <a:ea typeface="+mn-ea"/>
                <a:cs typeface="+mn-cs"/>
              </a:rPr>
              <a:t>. By analyzing these metrics over time, we can generate repository insights and our proposed </a:t>
            </a:r>
            <a:r>
              <a:rPr lang="en-US" sz="1200" b="1" kern="1200" dirty="0">
                <a:solidFill>
                  <a:schemeClr val="tx1"/>
                </a:solidFill>
                <a:effectLst/>
                <a:latin typeface="+mn-lt"/>
                <a:ea typeface="+mn-ea"/>
                <a:cs typeface="+mn-cs"/>
              </a:rPr>
              <a:t>Repository Health Score</a:t>
            </a:r>
            <a:r>
              <a:rPr lang="en-US" sz="1200" kern="1200" dirty="0">
                <a:solidFill>
                  <a:schemeClr val="tx1"/>
                </a:solidFill>
                <a:effectLst/>
                <a:latin typeface="+mn-lt"/>
                <a:ea typeface="+mn-ea"/>
                <a:cs typeface="+mn-cs"/>
              </a:rPr>
              <a:t>.</a:t>
            </a:r>
          </a:p>
          <a:p>
            <a:r>
              <a:rPr lang="en-US" sz="1200" b="1" kern="1200" dirty="0">
                <a:solidFill>
                  <a:schemeClr val="tx1"/>
                </a:solidFill>
                <a:effectLst/>
                <a:latin typeface="+mn-lt"/>
                <a:ea typeface="+mn-ea"/>
                <a:cs typeface="+mn-cs"/>
              </a:rPr>
              <a:t>ETL pipeline</a:t>
            </a:r>
            <a:r>
              <a:rPr lang="en-US" sz="1200" kern="1200" dirty="0">
                <a:solidFill>
                  <a:schemeClr val="tx1"/>
                </a:solidFill>
                <a:effectLst/>
                <a:latin typeface="+mn-lt"/>
                <a:ea typeface="+mn-ea"/>
                <a:cs typeface="+mn-cs"/>
              </a:rPr>
              <a:t> to collect, clean, validate, transform, and store the data while maintaining historical records.</a:t>
            </a:r>
          </a:p>
          <a:p>
            <a:r>
              <a:rPr lang="en-US" sz="1200" kern="1200" dirty="0">
                <a:solidFill>
                  <a:schemeClr val="tx1"/>
                </a:solidFill>
                <a:effectLst/>
                <a:latin typeface="+mn-lt"/>
                <a:ea typeface="+mn-ea"/>
                <a:cs typeface="+mn-cs"/>
              </a:rPr>
              <a:t>We will also use </a:t>
            </a:r>
            <a:r>
              <a:rPr lang="en-US" sz="1200" b="1" kern="1200" dirty="0">
                <a:solidFill>
                  <a:schemeClr val="tx1"/>
                </a:solidFill>
                <a:effectLst/>
                <a:latin typeface="+mn-lt"/>
                <a:ea typeface="+mn-ea"/>
                <a:cs typeface="+mn-cs"/>
              </a:rPr>
              <a:t>incremental loading</a:t>
            </a:r>
            <a:r>
              <a:rPr lang="en-US" sz="1200" kern="1200" dirty="0">
                <a:solidFill>
                  <a:schemeClr val="tx1"/>
                </a:solidFill>
                <a:effectLst/>
                <a:latin typeface="+mn-lt"/>
                <a:ea typeface="+mn-ea"/>
                <a:cs typeface="+mn-cs"/>
              </a:rPr>
              <a:t> to process only new or changed data instead of reprocessing everything.</a:t>
            </a:r>
          </a:p>
          <a:p>
            <a:r>
              <a:rPr lang="en-US" sz="1200" kern="1200" dirty="0">
                <a:solidFill>
                  <a:schemeClr val="tx1"/>
                </a:solidFill>
                <a:effectLst/>
                <a:latin typeface="+mn-lt"/>
                <a:ea typeface="+mn-ea"/>
                <a:cs typeface="+mn-cs"/>
              </a:rPr>
              <a:t>Overall, our goal is to transform continuously generated GitHub data into </a:t>
            </a:r>
            <a:r>
              <a:rPr lang="en-US" sz="1200" b="1" kern="1200" dirty="0">
                <a:solidFill>
                  <a:schemeClr val="tx1"/>
                </a:solidFill>
                <a:effectLst/>
                <a:latin typeface="+mn-lt"/>
                <a:ea typeface="+mn-ea"/>
                <a:cs typeface="+mn-cs"/>
              </a:rPr>
              <a:t>structured historical data and meaningful repository insights</a:t>
            </a: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F382A2A7-8E58-4AA3-854C-AFDBFBEC253A}" type="slidenum">
              <a:rPr lang="en-US" smtClean="0"/>
              <a:pPr/>
              <a:t>3</a:t>
            </a:fld>
            <a:endParaRPr lang="en-US"/>
          </a:p>
        </p:txBody>
      </p:sp>
    </p:spTree>
    <p:extLst>
      <p:ext uri="{BB962C8B-B14F-4D97-AF65-F5344CB8AC3E}">
        <p14:creationId xmlns:p14="http://schemas.microsoft.com/office/powerpoint/2010/main" val="28739976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kern="1200" dirty="0">
                <a:solidFill>
                  <a:schemeClr val="tx1"/>
                </a:solidFill>
                <a:effectLst/>
                <a:latin typeface="+mn-lt"/>
                <a:ea typeface="+mn-ea"/>
                <a:cs typeface="+mn-cs"/>
              </a:rPr>
              <a:t>GitHub generates large amounts of data through commits, pull requests, issues, releases, and contributors.</a:t>
            </a:r>
          </a:p>
          <a:p>
            <a:r>
              <a:rPr lang="en-US" sz="1200" kern="1200" dirty="0">
                <a:solidFill>
                  <a:schemeClr val="tx1"/>
                </a:solidFill>
                <a:effectLst/>
                <a:latin typeface="+mn-lt"/>
                <a:ea typeface="+mn-ea"/>
                <a:cs typeface="+mn-cs"/>
              </a:rPr>
              <a:t>The main problem is that raw GitHub API data does not directly show how a repository is performing over time. Our project  </a:t>
            </a:r>
            <a:r>
              <a:rPr lang="en-US" sz="1200" kern="1200" dirty="0" err="1">
                <a:solidFill>
                  <a:schemeClr val="tx1"/>
                </a:solidFill>
                <a:effectLst/>
                <a:latin typeface="+mn-lt"/>
                <a:ea typeface="+mn-ea"/>
                <a:cs typeface="+mn-cs"/>
              </a:rPr>
              <a:t>GitPulse</a:t>
            </a:r>
            <a:r>
              <a:rPr lang="en-US" sz="1200" kern="1200" dirty="0">
                <a:solidFill>
                  <a:schemeClr val="tx1"/>
                </a:solidFill>
                <a:effectLst/>
                <a:latin typeface="+mn-lt"/>
                <a:ea typeface="+mn-ea"/>
                <a:cs typeface="+mn-cs"/>
              </a:rPr>
              <a:t> will calculate metrics such as </a:t>
            </a:r>
            <a:r>
              <a:rPr lang="en-US" sz="1200" b="1" kern="1200" dirty="0">
                <a:solidFill>
                  <a:schemeClr val="tx1"/>
                </a:solidFill>
                <a:effectLst/>
                <a:latin typeface="+mn-lt"/>
                <a:ea typeface="+mn-ea"/>
                <a:cs typeface="+mn-cs"/>
              </a:rPr>
              <a:t>commit frequency, contributor activity, PR behavior, issue-resolution time, and repository growth</a:t>
            </a:r>
            <a:r>
              <a:rPr lang="en-US" sz="1200" kern="1200" dirty="0">
                <a:solidFill>
                  <a:schemeClr val="tx1"/>
                </a:solidFill>
                <a:effectLst/>
                <a:latin typeface="+mn-lt"/>
                <a:ea typeface="+mn-ea"/>
                <a:cs typeface="+mn-cs"/>
              </a:rPr>
              <a:t>. By analyzing these metrics over time, we can generate repository insights and our proposed </a:t>
            </a:r>
            <a:r>
              <a:rPr lang="en-US" sz="1200" b="1" kern="1200" dirty="0">
                <a:solidFill>
                  <a:schemeClr val="tx1"/>
                </a:solidFill>
                <a:effectLst/>
                <a:latin typeface="+mn-lt"/>
                <a:ea typeface="+mn-ea"/>
                <a:cs typeface="+mn-cs"/>
              </a:rPr>
              <a:t>Repository Health Score</a:t>
            </a:r>
            <a:r>
              <a:rPr lang="en-US" sz="1200" kern="1200" dirty="0">
                <a:solidFill>
                  <a:schemeClr val="tx1"/>
                </a:solidFill>
                <a:effectLst/>
                <a:latin typeface="+mn-lt"/>
                <a:ea typeface="+mn-ea"/>
                <a:cs typeface="+mn-cs"/>
              </a:rPr>
              <a:t>.</a:t>
            </a:r>
          </a:p>
          <a:p>
            <a:r>
              <a:rPr lang="en-US" sz="1200" b="1" kern="1200" dirty="0">
                <a:solidFill>
                  <a:schemeClr val="tx1"/>
                </a:solidFill>
                <a:effectLst/>
                <a:latin typeface="+mn-lt"/>
                <a:ea typeface="+mn-ea"/>
                <a:cs typeface="+mn-cs"/>
              </a:rPr>
              <a:t>ETL pipeline</a:t>
            </a:r>
            <a:r>
              <a:rPr lang="en-US" sz="1200" kern="1200" dirty="0">
                <a:solidFill>
                  <a:schemeClr val="tx1"/>
                </a:solidFill>
                <a:effectLst/>
                <a:latin typeface="+mn-lt"/>
                <a:ea typeface="+mn-ea"/>
                <a:cs typeface="+mn-cs"/>
              </a:rPr>
              <a:t> to collect, clean, validate, transform, and store the data while maintaining historical records.</a:t>
            </a:r>
          </a:p>
          <a:p>
            <a:r>
              <a:rPr lang="en-US" sz="1200" kern="1200" dirty="0">
                <a:solidFill>
                  <a:schemeClr val="tx1"/>
                </a:solidFill>
                <a:effectLst/>
                <a:latin typeface="+mn-lt"/>
                <a:ea typeface="+mn-ea"/>
                <a:cs typeface="+mn-cs"/>
              </a:rPr>
              <a:t>We will also use </a:t>
            </a:r>
            <a:r>
              <a:rPr lang="en-US" sz="1200" b="1" kern="1200" dirty="0">
                <a:solidFill>
                  <a:schemeClr val="tx1"/>
                </a:solidFill>
                <a:effectLst/>
                <a:latin typeface="+mn-lt"/>
                <a:ea typeface="+mn-ea"/>
                <a:cs typeface="+mn-cs"/>
              </a:rPr>
              <a:t>incremental loading</a:t>
            </a:r>
            <a:r>
              <a:rPr lang="en-US" sz="1200" kern="1200" dirty="0">
                <a:solidFill>
                  <a:schemeClr val="tx1"/>
                </a:solidFill>
                <a:effectLst/>
                <a:latin typeface="+mn-lt"/>
                <a:ea typeface="+mn-ea"/>
                <a:cs typeface="+mn-cs"/>
              </a:rPr>
              <a:t> to process only new or changed data instead of reprocessing everything.</a:t>
            </a:r>
          </a:p>
          <a:p>
            <a:r>
              <a:rPr lang="en-US" sz="1200" kern="1200" dirty="0">
                <a:solidFill>
                  <a:schemeClr val="tx1"/>
                </a:solidFill>
                <a:effectLst/>
                <a:latin typeface="+mn-lt"/>
                <a:ea typeface="+mn-ea"/>
                <a:cs typeface="+mn-cs"/>
              </a:rPr>
              <a:t>Overall, our goal is to transform continuously generated GitHub data into </a:t>
            </a:r>
            <a:r>
              <a:rPr lang="en-US" sz="1200" b="1" kern="1200" dirty="0">
                <a:solidFill>
                  <a:schemeClr val="tx1"/>
                </a:solidFill>
                <a:effectLst/>
                <a:latin typeface="+mn-lt"/>
                <a:ea typeface="+mn-ea"/>
                <a:cs typeface="+mn-cs"/>
              </a:rPr>
              <a:t>structured historical data and meaningful repository insights</a:t>
            </a: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F382A2A7-8E58-4AA3-854C-AFDBFBEC253A}" type="slidenum">
              <a:rPr lang="en-US" smtClean="0"/>
              <a:pPr/>
              <a:t>4</a:t>
            </a:fld>
            <a:endParaRPr lang="en-US"/>
          </a:p>
        </p:txBody>
      </p:sp>
    </p:spTree>
    <p:extLst>
      <p:ext uri="{BB962C8B-B14F-4D97-AF65-F5344CB8AC3E}">
        <p14:creationId xmlns:p14="http://schemas.microsoft.com/office/powerpoint/2010/main" val="7983895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8/14/26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656"/>
            <a:ext cx="7772400" cy="1432144"/>
          </a:xfrm>
        </p:spPr>
        <p:txBody>
          <a:bodyPr>
            <a:normAutofit fontScale="90000"/>
          </a:bodyPr>
          <a:lstStyle/>
          <a:p>
            <a:pPr>
              <a:defRPr/>
            </a:pPr>
            <a:br>
              <a:rPr lang="en-US" sz="1400" b="0" dirty="0">
                <a:solidFill>
                  <a:schemeClr val="tx1"/>
                </a:solidFill>
                <a:latin typeface="Aptos" panose="020B0004020202020204" pitchFamily="34" charset="0"/>
                <a:cs typeface="Times New Roman" pitchFamily="18" charset="0"/>
              </a:rPr>
            </a:br>
            <a:br>
              <a:rPr lang="en-US" sz="1400" b="0" dirty="0">
                <a:solidFill>
                  <a:schemeClr val="tx1"/>
                </a:solidFill>
                <a:latin typeface="Aptos" panose="020B0004020202020204" pitchFamily="34" charset="0"/>
                <a:cs typeface="Times New Roman" pitchFamily="18" charset="0"/>
              </a:rPr>
            </a:br>
            <a:r>
              <a:rPr lang="en-US" sz="1600" b="1" dirty="0">
                <a:solidFill>
                  <a:srgbClr val="0070C0"/>
                </a:solidFill>
                <a:latin typeface="Aptos Display" panose="020B0004020202020204" pitchFamily="34" charset="0"/>
                <a:cs typeface="Times New Roman" pitchFamily="18" charset="0"/>
              </a:rPr>
              <a:t>Department of Computer Science and Engineering</a:t>
            </a:r>
            <a:br>
              <a:rPr lang="en-US" sz="1600" b="0" dirty="0">
                <a:solidFill>
                  <a:schemeClr val="tx1"/>
                </a:solidFill>
                <a:latin typeface="Aptos" panose="020B0004020202020204" pitchFamily="34" charset="0"/>
                <a:cs typeface="Times New Roman" pitchFamily="18" charset="0"/>
              </a:rPr>
            </a:br>
            <a:r>
              <a:rPr lang="en-US" sz="2700" b="1" dirty="0">
                <a:latin typeface="Aptos" panose="020B0004020202020204" pitchFamily="34" charset="0"/>
                <a:cs typeface="Times New Roman" pitchFamily="18" charset="0"/>
              </a:rPr>
              <a:t>GitHub Developer Analytics Platform</a:t>
            </a:r>
            <a:br>
              <a:rPr lang="en-US" sz="2000" b="1" dirty="0">
                <a:latin typeface="Aptos" panose="020B0004020202020204" pitchFamily="34" charset="0"/>
                <a:cs typeface="Times New Roman" pitchFamily="18" charset="0"/>
              </a:rPr>
            </a:br>
            <a:br>
              <a:rPr lang="en-US" sz="1800" dirty="0">
                <a:latin typeface="Aptos" panose="020B0004020202020204" pitchFamily="34" charset="0"/>
                <a:cs typeface="Times New Roman" pitchFamily="18" charset="0"/>
              </a:rPr>
            </a:br>
            <a:endParaRPr lang="en-US" sz="3200" b="1" dirty="0">
              <a:latin typeface="Aptos" panose="020B0004020202020204" pitchFamily="34" charset="0"/>
              <a:cs typeface="Times New Roman" pitchFamily="18" charset="0"/>
            </a:endParaRPr>
          </a:p>
        </p:txBody>
      </p:sp>
      <p:sp>
        <p:nvSpPr>
          <p:cNvPr id="3" name="Subtitle 2"/>
          <p:cNvSpPr>
            <a:spLocks noGrp="1"/>
          </p:cNvSpPr>
          <p:nvPr>
            <p:ph type="subTitle" idx="1"/>
          </p:nvPr>
        </p:nvSpPr>
        <p:spPr>
          <a:xfrm>
            <a:off x="952500" y="1609269"/>
            <a:ext cx="7239000" cy="2795212"/>
          </a:xfrm>
        </p:spPr>
        <p:txBody>
          <a:bodyPr>
            <a:normAutofit fontScale="92500" lnSpcReduction="10000"/>
          </a:bodyPr>
          <a:lstStyle/>
          <a:p>
            <a:pPr marR="0" algn="ctr" eaLnBrk="1" hangingPunct="1">
              <a:lnSpc>
                <a:spcPct val="80000"/>
              </a:lnSpc>
              <a:defRPr/>
            </a:pPr>
            <a:endParaRPr lang="en-US" sz="1200" dirty="0">
              <a:solidFill>
                <a:srgbClr val="0D0D0D"/>
              </a:solidFill>
              <a:latin typeface="Times New Roman" pitchFamily="18" charset="0"/>
              <a:cs typeface="Times New Roman" pitchFamily="18" charset="0"/>
            </a:endParaRPr>
          </a:p>
          <a:p>
            <a:pPr marR="0" algn="ctr" eaLnBrk="1" hangingPunct="1">
              <a:lnSpc>
                <a:spcPct val="80000"/>
              </a:lnSpc>
              <a:defRPr/>
            </a:pPr>
            <a:r>
              <a:rPr lang="en-US" sz="1600" b="1" dirty="0">
                <a:solidFill>
                  <a:srgbClr val="00B0F0"/>
                </a:solidFill>
                <a:latin typeface="Aptos Display" panose="020B0004020202020204" pitchFamily="34" charset="0"/>
                <a:cs typeface="Times New Roman" pitchFamily="18" charset="0"/>
              </a:rPr>
              <a:t>Section - 4</a:t>
            </a:r>
          </a:p>
          <a:p>
            <a:pPr>
              <a:lnSpc>
                <a:spcPct val="80000"/>
              </a:lnSpc>
              <a:defRPr/>
            </a:pPr>
            <a:r>
              <a:rPr lang="en-US" sz="1800" b="1" dirty="0">
                <a:solidFill>
                  <a:srgbClr val="00B0F0"/>
                </a:solidFill>
                <a:latin typeface="Aptos Display" panose="020B0004020202020204" pitchFamily="34" charset="0"/>
                <a:cs typeface="Times New Roman" pitchFamily="18" charset="0"/>
              </a:rPr>
              <a:t>Team Number: 18</a:t>
            </a:r>
          </a:p>
          <a:p>
            <a:pPr>
              <a:lnSpc>
                <a:spcPct val="80000"/>
              </a:lnSpc>
              <a:defRPr/>
            </a:pPr>
            <a:endParaRPr lang="en-US" sz="1800" b="1" dirty="0">
              <a:solidFill>
                <a:srgbClr val="00B0F0"/>
              </a:solidFill>
              <a:latin typeface="Aptos Display" panose="020B0004020202020204" pitchFamily="34" charset="0"/>
              <a:cs typeface="Times New Roman" pitchFamily="18" charset="0"/>
            </a:endParaRPr>
          </a:p>
          <a:p>
            <a:pPr marR="0" algn="ctr" eaLnBrk="1" hangingPunct="1">
              <a:lnSpc>
                <a:spcPct val="80000"/>
              </a:lnSpc>
              <a:defRPr/>
            </a:pPr>
            <a:r>
              <a:rPr lang="en-US" sz="1600" b="1" dirty="0">
                <a:solidFill>
                  <a:srgbClr val="00B0F0"/>
                </a:solidFill>
                <a:latin typeface="Aptos Display" panose="020B0004020202020204" pitchFamily="34" charset="0"/>
                <a:cs typeface="Times New Roman" pitchFamily="18" charset="0"/>
              </a:rPr>
              <a:t> </a:t>
            </a:r>
            <a:r>
              <a:rPr lang="en-US" sz="2000" dirty="0">
                <a:solidFill>
                  <a:srgbClr val="0D0D0D"/>
                </a:solidFill>
                <a:latin typeface="Aptos Display" panose="020B0004020202020204" pitchFamily="34" charset="0"/>
                <a:cs typeface="Times New Roman" pitchFamily="18" charset="0"/>
              </a:rPr>
              <a:t>Donica Panem                           2420030655</a:t>
            </a:r>
          </a:p>
          <a:p>
            <a:pPr marR="0" algn="ctr" eaLnBrk="1" hangingPunct="1">
              <a:lnSpc>
                <a:spcPct val="80000"/>
              </a:lnSpc>
              <a:defRPr/>
            </a:pPr>
            <a:r>
              <a:rPr lang="en-US" sz="2000" dirty="0">
                <a:solidFill>
                  <a:srgbClr val="0D0D0D"/>
                </a:solidFill>
                <a:latin typeface="Aptos Display" panose="020B0004020202020204" pitchFamily="34" charset="0"/>
                <a:cs typeface="Times New Roman" pitchFamily="18" charset="0"/>
              </a:rPr>
              <a:t>Akhila Mulukutla                       2420030433</a:t>
            </a:r>
          </a:p>
          <a:p>
            <a:pPr marR="0" algn="ctr" eaLnBrk="1" hangingPunct="1">
              <a:lnSpc>
                <a:spcPct val="80000"/>
              </a:lnSpc>
              <a:defRPr/>
            </a:pPr>
            <a:endParaRPr lang="en-US" sz="2000" dirty="0">
              <a:solidFill>
                <a:srgbClr val="0D0D0D"/>
              </a:solidFill>
              <a:latin typeface="Aptos Display" panose="020B0004020202020204" pitchFamily="34" charset="0"/>
              <a:cs typeface="Times New Roman" pitchFamily="18" charset="0"/>
            </a:endParaRPr>
          </a:p>
          <a:p>
            <a:pPr marR="0" algn="ctr" eaLnBrk="1" hangingPunct="1">
              <a:lnSpc>
                <a:spcPct val="80000"/>
              </a:lnSpc>
              <a:defRPr/>
            </a:pPr>
            <a:endParaRPr lang="en-US" sz="2000" dirty="0">
              <a:solidFill>
                <a:srgbClr val="0D0D0D"/>
              </a:solidFill>
              <a:latin typeface="Aptos Display" panose="020B0004020202020204" pitchFamily="34" charset="0"/>
              <a:cs typeface="Times New Roman" pitchFamily="18" charset="0"/>
            </a:endParaRPr>
          </a:p>
          <a:p>
            <a:pPr marR="0" algn="ctr" eaLnBrk="1" hangingPunct="1">
              <a:lnSpc>
                <a:spcPct val="80000"/>
              </a:lnSpc>
              <a:defRPr/>
            </a:pPr>
            <a:endParaRPr lang="en-US" sz="700" b="1" dirty="0">
              <a:solidFill>
                <a:srgbClr val="FF0000"/>
              </a:solidFill>
              <a:latin typeface="Aptos Display" panose="020B0004020202020204" pitchFamily="34" charset="0"/>
              <a:cs typeface="Times New Roman" pitchFamily="18" charset="0"/>
            </a:endParaRPr>
          </a:p>
          <a:p>
            <a:pPr marR="0" eaLnBrk="1" hangingPunct="1">
              <a:lnSpc>
                <a:spcPct val="80000"/>
              </a:lnSpc>
              <a:defRPr/>
            </a:pPr>
            <a:r>
              <a:rPr lang="en-US" sz="1600" b="1" dirty="0">
                <a:solidFill>
                  <a:schemeClr val="tx2">
                    <a:lumMod val="50000"/>
                  </a:schemeClr>
                </a:solidFill>
                <a:latin typeface="Aptos Display" panose="020B0004020202020204" pitchFamily="34" charset="0"/>
                <a:cs typeface="Times New Roman" pitchFamily="18" charset="0"/>
              </a:rPr>
              <a:t>Under the guidance of :</a:t>
            </a:r>
          </a:p>
          <a:p>
            <a:pPr marR="0" eaLnBrk="1" hangingPunct="1">
              <a:lnSpc>
                <a:spcPct val="80000"/>
              </a:lnSpc>
              <a:defRPr/>
            </a:pPr>
            <a:r>
              <a:rPr lang="en-US" sz="1600" b="1" dirty="0">
                <a:solidFill>
                  <a:schemeClr val="tx2">
                    <a:lumMod val="50000"/>
                  </a:schemeClr>
                </a:solidFill>
                <a:latin typeface="Aptos Display" panose="020B0004020202020204" pitchFamily="34" charset="0"/>
                <a:cs typeface="Times New Roman" pitchFamily="18" charset="0"/>
              </a:rPr>
              <a:t>Dr. N. Shirisha</a:t>
            </a:r>
          </a:p>
          <a:p>
            <a:pPr marR="0" eaLnBrk="1" hangingPunct="1">
              <a:lnSpc>
                <a:spcPct val="80000"/>
              </a:lnSpc>
              <a:defRPr/>
            </a:pPr>
            <a:r>
              <a:rPr lang="en-US" sz="1600" b="1" dirty="0">
                <a:solidFill>
                  <a:schemeClr val="tx2">
                    <a:lumMod val="50000"/>
                  </a:schemeClr>
                </a:solidFill>
                <a:latin typeface="Aptos Display" panose="020B0004020202020204" pitchFamily="34" charset="0"/>
                <a:cs typeface="Times New Roman" pitchFamily="18" charset="0"/>
              </a:rPr>
              <a:t>Associate Professor                                                </a:t>
            </a:r>
            <a:r>
              <a:rPr lang="en-US" sz="1600" dirty="0">
                <a:solidFill>
                  <a:schemeClr val="tx2">
                    <a:lumMod val="50000"/>
                  </a:schemeClr>
                </a:solidFill>
                <a:latin typeface="Aptos Display" panose="020B0004020202020204" pitchFamily="34"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0" y="5562600"/>
            <a:ext cx="9144000" cy="644279"/>
          </a:xfrm>
          <a:prstGeom prst="rect">
            <a:avLst/>
          </a:prstGeom>
          <a:noFill/>
        </p:spPr>
        <p:txBody>
          <a:bodyPr wrap="square">
            <a:spAutoFit/>
          </a:bodyPr>
          <a:lstStyle/>
          <a:p>
            <a:pPr marL="0" marR="0" algn="ctr">
              <a:lnSpc>
                <a:spcPct val="107000"/>
              </a:lnSpc>
              <a:spcBef>
                <a:spcPts val="1555"/>
              </a:spcBef>
              <a:spcAft>
                <a:spcPts val="800"/>
              </a:spcAft>
            </a:pPr>
            <a:r>
              <a:rPr lang="en-GB" sz="2000" b="1" kern="100" dirty="0">
                <a:effectLst/>
                <a:ea typeface="Times New Roman" panose="02020603050405020304" pitchFamily="18" charset="0"/>
                <a:cs typeface="Times New Roman" panose="02020603050405020304" pitchFamily="18" charset="0"/>
              </a:rPr>
              <a:t>Koneru Lakshmaiah Education Foundation</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2454" y="4404481"/>
            <a:ext cx="2499986" cy="1253047"/>
          </a:xfrm>
          <a:prstGeom prst="rect">
            <a:avLst/>
          </a:prstGeom>
          <a:noFill/>
          <a:ln>
            <a:noFill/>
          </a:ln>
        </p:spPr>
      </p:pic>
      <p:sp>
        <p:nvSpPr>
          <p:cNvPr id="4" name="TextBox 3">
            <a:extLst>
              <a:ext uri="{FF2B5EF4-FFF2-40B4-BE49-F238E27FC236}">
                <a16:creationId xmlns:a16="http://schemas.microsoft.com/office/drawing/2014/main" id="{965837B7-BC79-6E15-1F17-F7D52FF02E02}"/>
              </a:ext>
            </a:extLst>
          </p:cNvPr>
          <p:cNvSpPr txBox="1"/>
          <p:nvPr/>
        </p:nvSpPr>
        <p:spPr>
          <a:xfrm>
            <a:off x="3505200" y="847983"/>
            <a:ext cx="2133600" cy="338554"/>
          </a:xfrm>
          <a:prstGeom prst="rect">
            <a:avLst/>
          </a:prstGeom>
          <a:noFill/>
        </p:spPr>
        <p:txBody>
          <a:bodyPr wrap="square" rtlCol="0">
            <a:spAutoFit/>
          </a:bodyPr>
          <a:lstStyle/>
          <a:p>
            <a:pPr algn="ctr"/>
            <a:r>
              <a:rPr lang="en-US" sz="1600" dirty="0"/>
              <a:t>Review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Aptos" panose="020B0004020202020204" pitchFamily="34" charset="0"/>
                <a:cs typeface="Times New Roman"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a:bodyPr>
          <a:lstStyle/>
          <a:p>
            <a:r>
              <a:rPr lang="en-US" dirty="0"/>
              <a:t>Abstract</a:t>
            </a:r>
          </a:p>
          <a:p>
            <a:r>
              <a:rPr lang="en-US" dirty="0"/>
              <a:t>Introduction</a:t>
            </a:r>
          </a:p>
          <a:p>
            <a:pPr marL="0" indent="0">
              <a:buNone/>
            </a:pP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96874"/>
            <a:ext cx="8229600" cy="1143000"/>
          </a:xfrm>
        </p:spPr>
        <p:txBody>
          <a:bodyPr>
            <a:normAutofit/>
          </a:bodyPr>
          <a:lstStyle/>
          <a:p>
            <a:r>
              <a:rPr lang="en-US" sz="2800" b="1" dirty="0">
                <a:solidFill>
                  <a:srgbClr val="0070C0"/>
                </a:solidFill>
                <a:latin typeface="Aptos" panose="020B0004020202020204" pitchFamily="34" charset="0"/>
                <a:cs typeface="Times New Roman" pitchFamily="18" charset="0"/>
              </a:rPr>
              <a:t>Abstract</a:t>
            </a:r>
            <a:endParaRPr lang="en-US" sz="2800" dirty="0">
              <a:latin typeface="Aptos" panose="020B0004020202020204" pitchFamily="34" charset="0"/>
            </a:endParaRPr>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457200" y="1371600"/>
            <a:ext cx="8229600" cy="4708526"/>
          </a:xfrm>
        </p:spPr>
        <p:txBody>
          <a:bodyPr>
            <a:normAutofit fontScale="92500" lnSpcReduction="10000"/>
          </a:bodyPr>
          <a:lstStyle/>
          <a:p>
            <a:r>
              <a:rPr lang="en-US" sz="1600" dirty="0"/>
              <a:t>GitHub repositories continuously generate large volumes of development activity through commits, pull requests, issues, releases, and contributor interactions. Although this information is available through GitHub APIs, raw repository data is not directly suitable for historical analysis, performance comparison, or reliable decision-making. </a:t>
            </a:r>
            <a:r>
              <a:rPr lang="en-US" sz="1600" dirty="0" err="1"/>
              <a:t>GitPulse</a:t>
            </a:r>
            <a:r>
              <a:rPr lang="en-US" sz="1600" dirty="0"/>
              <a:t> is proposed as a GitHub Developer Analytics Platform that applies Data Engineering principles to collect, process, validate, store, and analyze public repository activity.</a:t>
            </a:r>
          </a:p>
          <a:p>
            <a:r>
              <a:rPr lang="en-US" sz="1600" dirty="0"/>
              <a:t>The platform will use automated data ingestion to retrieve repository data through the GitHub REST API. The collected records will pass through a structured ETL pipeline in which raw data is preserved, cleaned, validated, transformed, and loaded into analytical storage. The system will support incremental loading to avoid unnecessary reprocessing and will maintain historical datasets for identifying long-term trends. Repository activity will be modeled into analytics-ready datasets covering commits, contributors, pull requests, issues, releases, and programming-language usage.</a:t>
            </a:r>
          </a:p>
          <a:p>
            <a:r>
              <a:rPr lang="en-US" sz="1600" dirty="0" err="1"/>
              <a:t>GitPulse</a:t>
            </a:r>
            <a:r>
              <a:rPr lang="en-US" sz="1600" dirty="0"/>
              <a:t> will provide metrics such as commit frequency, contributor activity and retention, pull-request merge behavior, issue-resolution time, and repository growth. A derived Repository Health Score will combine selected activity and maintenance indicators to provide a summarized view of repository health. The project is intended to demonstrate practical concepts including API-based ingestion, ETL/ELT, relational data modeling, incremental processing, data-quality validation, workflow orchestration, and analytical reporting. The final platform will convert continuously generated GitHub activity into structured historical datasets and meaningful developer and repository insights.</a:t>
            </a:r>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599"/>
            <a:ext cx="8229600" cy="1143000"/>
          </a:xfrm>
        </p:spPr>
        <p:txBody>
          <a:bodyPr>
            <a:normAutofit/>
          </a:bodyPr>
          <a:lstStyle/>
          <a:p>
            <a:r>
              <a:rPr lang="en-US" sz="2800" b="1" dirty="0">
                <a:solidFill>
                  <a:srgbClr val="0070C0"/>
                </a:solidFill>
                <a:latin typeface="Aptos" panose="020B0004020202020204" pitchFamily="34" charset="0"/>
                <a:cs typeface="Times New Roman" pitchFamily="18" charset="0"/>
              </a:rPr>
              <a:t>Introduction</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a:xfrm>
            <a:off x="457200" y="1371599"/>
            <a:ext cx="8229600" cy="4525963"/>
          </a:xfrm>
        </p:spPr>
        <p:txBody>
          <a:bodyPr>
            <a:normAutofit/>
          </a:bodyPr>
          <a:lstStyle/>
          <a:p>
            <a:r>
              <a:rPr lang="en-US" sz="1800" dirty="0">
                <a:latin typeface="Aptos" panose="020B0004020202020204" pitchFamily="34" charset="0"/>
              </a:rPr>
              <a:t>GitHub is one of the most widely used platforms for collaborative software development and hosts a large amount of publicly accessible information about software projects. Every active repository produces data through commits, pull requests, issues, releases, contributors, stars, forks, and other development events. While GitHub provides access to much of this information through APIs, meaningful analysis requires more than displaying the latest API response. Data must be collected repeatedly, standardized, stored historically, validated, and transformed into structures suitable for analytics.</a:t>
            </a:r>
          </a:p>
          <a:p>
            <a:r>
              <a:rPr lang="en-US" sz="1800" dirty="0" err="1">
                <a:latin typeface="Aptos" panose="020B0004020202020204" pitchFamily="34" charset="0"/>
              </a:rPr>
              <a:t>GitPulse</a:t>
            </a:r>
            <a:r>
              <a:rPr lang="en-US" sz="1800" dirty="0">
                <a:latin typeface="Aptos" panose="020B0004020202020204" pitchFamily="34" charset="0"/>
              </a:rPr>
              <a:t> addresses this requirement by treating GitHub activity as a Data Engineering problem. The project focuses on building a reliable pipeline that converts operational API data into analytics-ready datasets. This enables repository activity to be examined over time and allows derived indicators to be calculated from multiple sources of repository data.</a:t>
            </a:r>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1936</TotalTime>
  <Words>760</Words>
  <Application>Microsoft Macintosh PowerPoint</Application>
  <PresentationFormat>On-screen Show (4:3)</PresentationFormat>
  <Paragraphs>39</Paragraphs>
  <Slides>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Aptos</vt:lpstr>
      <vt:lpstr>Aptos Display</vt:lpstr>
      <vt:lpstr>Arial</vt:lpstr>
      <vt:lpstr>Calibri</vt:lpstr>
      <vt:lpstr>Times New Roman</vt:lpstr>
      <vt:lpstr>Office Theme</vt:lpstr>
      <vt:lpstr>  Department of Computer Science and Engineering GitHub Developer Analytics Platform  </vt:lpstr>
      <vt:lpstr>Outline of the Presentation</vt:lpstr>
      <vt:lpstr>Abstract</vt:lpstr>
      <vt:lpstr>Introduction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AKHILA MULUKUTLA 2420030433</cp:lastModifiedBy>
  <cp:revision>204</cp:revision>
  <dcterms:created xsi:type="dcterms:W3CDTF">2006-08-16T00:00:00Z</dcterms:created>
  <dcterms:modified xsi:type="dcterms:W3CDTF">2026-08-14T06:22:12Z</dcterms:modified>
</cp:coreProperties>
</file>